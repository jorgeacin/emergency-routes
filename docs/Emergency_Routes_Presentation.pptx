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11827"/>
                </a:solidFill>
                <a:latin typeface="Calibri"/>
              </a:rPr>
              <a:t>Per-class metrics (test set, n = 76)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Mild</c:v>
                  </c:pt>
                  <c:pt idx="1">
                    <c:v>Moderate</c:v>
                  </c:pt>
                  <c:pt idx="2">
                    <c:v>Severe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Mild</c:v>
                  </c:pt>
                  <c:pt idx="1">
                    <c:v>Moderate</c:v>
                  </c:pt>
                  <c:pt idx="2">
                    <c:v>Severe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0.84</c:v>
                </c:pt>
                <c:pt idx="1">
                  <c:v>1</c:v>
                </c:pt>
                <c:pt idx="2">
                  <c:v>0.85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Mild</c:v>
                  </c:pt>
                  <c:pt idx="1">
                    <c:v>Moderate</c:v>
                  </c:pt>
                  <c:pt idx="2">
                    <c:v>Severe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0.91</c:v>
                </c:pt>
                <c:pt idx="1">
                  <c:v>1</c:v>
                </c:pt>
                <c:pt idx="2">
                  <c:v>0.78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  ·  PROJECT III  ·  DATA SCIENCE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ROUTES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Optimization for Emergency Medical Services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371600" cy="365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the Generalitat Valenciana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749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Acín Zurita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Arnau Tomás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Nacho Castilla Llorca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80560" y="3749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Huguet Chordi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Llácer Córdoba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Óscar Muñoz García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29, 2024 — The DANA Flood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devastating floods in recent European history hit the Valencia region.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collapsed, communications were cut, and ambulances were diverted onto streets they only discovered were impassable on arrival.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 — when every minute is decisive — stretched dangerously.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1371600"/>
            <a:ext cx="182880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0" y="1371600"/>
            <a:ext cx="54864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5361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2,438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74920" y="20848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calls (peak, 17:00)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03720" y="1371600"/>
            <a:ext cx="182880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03720" y="1371600"/>
            <a:ext cx="54864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5361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19,821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040880" y="20848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received in a single 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788920"/>
            <a:ext cx="182880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2788920"/>
            <a:ext cx="54864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9535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4,770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74920" y="35021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managed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788920"/>
            <a:ext cx="182880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2788920"/>
            <a:ext cx="54864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9535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710.8 mm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040880" y="35021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rainfall in 24 h (Turís station)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was not a human failure. It was a tools failure.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Standard Navigation Fails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819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17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routing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783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Google Maps optimize for normal traffic — they don't know which streets are flooded right now.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96312"/>
            <a:ext cx="777240" cy="777240"/>
          </a:xfrm>
          <a:prstGeom prst="ellipse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6090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4963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Reactive, not proactive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286207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discover blocked roads on arrival, lose minutes turning back and recalculating.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75304"/>
            <a:ext cx="777240" cy="777240"/>
          </a:xfrm>
          <a:prstGeom prst="ellipse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39896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57530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triage bottleneck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394106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CICU operators classify severity by hand under extreme pressure — the worst time for subjective decisions.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Integrated Decision-Support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AI modules sharing one operational pipeline for the CICU.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11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Optimization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SAMU and SVB routes in real time when a road is blocked.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scenarios: Fallas, Marathon, DANA, PATRICOVA…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Multi-victim incident logic (START/SHORT + MANV).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783080"/>
            <a:ext cx="4023360" cy="27432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011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5778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Triage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937760" y="28346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and transcribes 112 calls with Whisper (Spanish + Valencian).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severity with a fine-tuned XLM-RoBERTa.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the operator prioritize resources from the first second.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Data Sources for Valencia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 the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54864" cy="1143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directory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centers — destination nodes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4300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Generalitat Valenciana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1600200"/>
            <a:ext cx="402336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600200"/>
            <a:ext cx="54864" cy="1143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830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inventory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4924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units (22 SAMU, 49 SVB) — origin nodes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34924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Generalitat Valenciana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2880360"/>
            <a:ext cx="402336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880360"/>
            <a:ext cx="54864" cy="1143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road-restriction layers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4300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Polygons → ORS avoid_polygons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43000" y="3657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Ayuntamiento / GVA / OSM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663440" y="2880360"/>
            <a:ext cx="402336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2880360"/>
            <a:ext cx="54864" cy="1143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632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emergency calls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4924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calls (ES + VA, 3 severity levels)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349240" y="3657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 triage model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08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Future-work data: 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AEMET weather, GVA traffic intensity 2023–25, Júcar hydrographic data — collected and cleaned, awaiting more events to build a flood-prediction model.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Route Engine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Operational Latency = ambulance→incident time  +  incident→hospital time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15544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+ severity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 rot="5400000">
            <a:off x="1970532" y="2368296"/>
            <a:ext cx="128016" cy="109728"/>
          </a:xfrm>
          <a:prstGeom prst="rightTriangl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1691640"/>
            <a:ext cx="15544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18745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48840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+ on-shift only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 rot="5400000">
            <a:off x="3662172" y="2368296"/>
            <a:ext cx="128016" cy="109728"/>
          </a:xfrm>
          <a:prstGeom prst="rightTriangl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794760" y="1691640"/>
            <a:ext cx="15544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8745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Top-8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840480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pre-selection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 rot="5400000">
            <a:off x="5353812" y="2368296"/>
            <a:ext cx="128016" cy="109728"/>
          </a:xfrm>
          <a:prstGeom prst="rightTriangl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0" y="1691640"/>
            <a:ext cx="15544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18745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query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32120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avoid_polygons applied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 rot="5400000">
            <a:off x="7045452" y="2368296"/>
            <a:ext cx="128016" cy="109728"/>
          </a:xfrm>
          <a:prstGeom prst="rightTriangl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78040" y="1691640"/>
            <a:ext cx="15544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18745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223760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Min-time unit + hospital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8580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8580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cuts are injected as polygons into OpenRouteService BEFORE routing.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Closures, floods or event corridors are treated as impassable from the start — no reactive recalculation, no minutes wasted turning back.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Preloaded Restriction Layers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Tents, monuments, official street closures (~781 polygons)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Valencia Marathon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0215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corridor buffered from official route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974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Marinera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8251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festival circuits buffered to road segments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26974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2450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Vicente Procession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27249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route blockages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359152"/>
            <a:ext cx="26974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02152" y="2450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Ofrenda de Fallas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2152" y="27249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 offering corridor in the city center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359152"/>
            <a:ext cx="2697480" cy="77724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82512" y="2450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(Oct 29, 2024)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27249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water footprint × street network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26974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" y="33924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PATRICOVA Extreme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36667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risk map (levels 1–2) — preventive activation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share the same format:  </a:t>
            </a:r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polygons in EPSG:25830 (UTM 30N) — auto-reprojected to WGS84 before being sent to OpenRouteService.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FALLAS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Incident, Two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incident at Carrer del Comte d'Altea (L'Eixample)  →  Hospital Clínico de Valencia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40233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CUTS —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Ambulance → incident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6.9 min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→ hospital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3657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 </a:t>
            </a:r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91640"/>
            <a:ext cx="402336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781 FALLAS CUTS ACTIVE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Ambulance → incident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6.8 min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→ hospital  (rerouted)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4023360"/>
            <a:ext cx="3657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 </a:t>
            </a:r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MASS-CASUALTY MODE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START/SHORT Triage + MANV Doctrine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colors entered by operator: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36776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2082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9842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68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3682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74320" cy="27432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523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752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Deceased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80160"/>
            <a:ext cx="54864" cy="3200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dispatch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SAMU units for the Advanced Medical Post (PSA).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SVB units for evacuation (1:2 ratio for yellow patients).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 stay at the PMA; blacks generate a court notice.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provincial fleet cap — preserves global coverage.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dispersion when ≥5 units dispatched (avoids ER collapse).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40233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16-victim sim @ Carrer de Colón → Level 2 IMV → 4 SAMU + 4 SVB → 3 hospitals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→ Transcription → Severity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6072" y="1554480"/>
            <a:ext cx="187452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554480"/>
            <a:ext cx="187452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19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7512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PyAudio 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/ phone line, overlapping windows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2455164" y="2345436"/>
            <a:ext cx="155448" cy="109728"/>
          </a:xfrm>
          <a:prstGeom prst="rightTriangl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15184" y="1554480"/>
            <a:ext cx="187452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15184" y="1554480"/>
            <a:ext cx="187452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6624" y="1719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06624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 (small)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06624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+ VA transcription, no extra config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494276" y="2345436"/>
            <a:ext cx="155448" cy="109728"/>
          </a:xfrm>
          <a:prstGeom prst="rightTriangl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1554480"/>
            <a:ext cx="187452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554480"/>
            <a:ext cx="187452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719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45736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XLM-RoBERTa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45736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504 synthetic calls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6533388" y="2345436"/>
            <a:ext cx="155448" cy="109728"/>
          </a:xfrm>
          <a:prstGeom prst="rightTriangl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93408" y="1554480"/>
            <a:ext cx="187452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93408" y="1554480"/>
            <a:ext cx="187452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719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84848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label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4848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· moderate · severe (softmax)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medical-context retrieval from the Spanish Wikipedia API. Clinical terms from the transcription trigger an asynchronous lookup; the summary is attached to the dispatch report so the ambulance crew has context before they arrive.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 Classifier — Test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85.5%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325880"/>
            <a:ext cx="19202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87.4%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(macro)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202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(macro)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325880"/>
            <a:ext cx="19202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85.4%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423160"/>
          <a:ext cx="49377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577840" y="2423160"/>
            <a:ext cx="3108960" cy="2194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6060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63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76072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= 1.00 on severe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760720" y="3657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severe calls in the test set were correctly identified. Zero severe→mild misclassifications — the most dangerous error never occurs.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Beneficiaries and Time-Saving Mechanisms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CICU operators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dispatch tool, automated first-pass severity, more accurate ETAs.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54480"/>
            <a:ext cx="640080" cy="6400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6642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SAMU &amp; SVB crews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already recalculated before they leave the base — no surprise blockages on the road.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66420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patient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saved can be the difference between in-time intervention and an irreversible outcome.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8580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impact (qualitative)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580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reactive recalculation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alternative route is computed before the unit leaves the base.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66344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Parallelizes triage and dispatch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Severity is assigned while the call continues, not after it ends.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Constraints, Concrete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36576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5544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infrastructure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runs locally only — production needs server hosting.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4023360" cy="36576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5544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ORS public API limits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46320" y="2148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Vertex/polygon caps are hit by full-DANA cartography; needs paid tier or a self-hosted ORS.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926080"/>
            <a:ext cx="402336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3044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1089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data feeds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DGT traffic + OSM live alerts so cuts auto-update.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63440" y="292608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926080"/>
            <a:ext cx="402336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46320" y="3044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863840" y="3090672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32004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4632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Flood-prediction model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4632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DANA-scale event in record — not enough for generalization. Re-attempt as more events accumulate.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 ·  Project III  ·  UPV — Bachelor's in Data Science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tools, faster decisions.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&gt; algorithmic sophistication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restriction layers (PATRICOVA, OSM, UTM→WGS84) was the most decisive part of the work.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doctrine translates cleanly to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971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START/SHORT and MANV were truly understood, the dispatch logic became deterministic and testable.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474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triage model doesn't need to be perfect everywhere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794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to never fail on the class that matters most — and ours doesn't.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UN SDGs 3 (Health), 11 (Sustainable Cities), 13 (Climate Action)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Routes</dc:title>
  <dc:subject>PptxGenJS Presentation</dc:subject>
  <dc:creator>UPV — Data Science Group 1</dc:creator>
  <cp:lastModifiedBy>UPV — Data Science Group 1</cp:lastModifiedBy>
  <cp:revision>1</cp:revision>
  <dcterms:created xsi:type="dcterms:W3CDTF">2026-05-10T18:41:29Z</dcterms:created>
  <dcterms:modified xsi:type="dcterms:W3CDTF">2026-05-10T18:41:29Z</dcterms:modified>
</cp:coreProperties>
</file>